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99980-103C-498D-A04E-244B3D70744E}" v="1314" dt="2026-06-12T22:11:09.104"/>
    <p1510:client id="{5B5D44FA-828C-438B-A9B9-A675E2C5DAB5}" v="670" dt="2026-06-12T23:43:57.225"/>
    <p1510:client id="{C4F7CEB1-636D-4A8A-9AC7-013BB1798311}" v="261" dt="2026-06-12T17:09:42.549"/>
    <p1510:client id="{EA9C1A78-4E6B-404E-88EB-0024A9AB6B77}" v="550" dt="2026-06-13T00:38:06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seTechCyber/Integrated-Agentic-Cybersecurity-Framework-IACSF/tree/main/docs" TargetMode="External"/><Relationship Id="rId2" Type="http://schemas.openxmlformats.org/officeDocument/2006/relationships/hyperlink" Target="https://github.com/RoseTechCyber/Integrated-Agentic-Cybersecurity-Framework-IACS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oseTechCyber/Integrated-Agentic-Cybersecurity-Framework-IACSF/blob/main/README.m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chinatu7000@gmail.com" TargetMode="External"/><Relationship Id="rId2" Type="http://schemas.openxmlformats.org/officeDocument/2006/relationships/hyperlink" Target="https://www.linkedin.com/in/chinatu-uzuegbu-67593119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2940" y="230970"/>
            <a:ext cx="5535286" cy="3365257"/>
          </a:xfrm>
        </p:spPr>
        <p:txBody>
          <a:bodyPr>
            <a:normAutofit fontScale="90000"/>
          </a:bodyPr>
          <a:lstStyle/>
          <a:p>
            <a:br>
              <a:rPr lang="en-US" sz="4000" b="1"/>
            </a:br>
            <a:br>
              <a:rPr lang="en-US" sz="4000" b="1"/>
            </a:br>
            <a:br>
              <a:rPr lang="en-US" sz="4000" b="1"/>
            </a:br>
            <a:br>
              <a:rPr lang="en-US" sz="4000" b="1"/>
            </a:br>
            <a:br>
              <a:rPr lang="en-US" sz="4000" b="1"/>
            </a:br>
            <a:r>
              <a:rPr lang="en-US" sz="3200" b="1"/>
              <a:t>Integrated Agentic Cybersecurity Framework ,</a:t>
            </a:r>
            <a:br>
              <a:rPr lang="en-US" sz="3200" b="1"/>
            </a:br>
            <a:br>
              <a:rPr lang="en-US" sz="3200" b="1"/>
            </a:br>
            <a:r>
              <a:rPr lang="en-US" sz="3200" b="1"/>
              <a:t> Agentic Security Research Center </a:t>
            </a:r>
            <a:br>
              <a:rPr lang="en-US" sz="3200" b="1"/>
            </a:br>
            <a:r>
              <a:rPr lang="en-US" sz="3200" b="1"/>
              <a:t>&amp;</a:t>
            </a:r>
            <a:br>
              <a:rPr lang="en-US" sz="3200" b="1"/>
            </a:br>
            <a:r>
              <a:rPr lang="en-US" sz="3200" b="1"/>
              <a:t>Agentic eLearning  Security Mgt.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7963" y="3990227"/>
            <a:ext cx="5147097" cy="23890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Starring:</a:t>
            </a:r>
          </a:p>
          <a:p>
            <a:r>
              <a:rPr lang="en-US" b="1" err="1"/>
              <a:t>Chinatu</a:t>
            </a:r>
            <a:r>
              <a:rPr lang="en-US" b="1"/>
              <a:t> </a:t>
            </a:r>
            <a:r>
              <a:rPr lang="en-US" b="1" err="1"/>
              <a:t>Uzuegbu</a:t>
            </a:r>
            <a:endParaRPr lang="en-US" b="1"/>
          </a:p>
          <a:p>
            <a:r>
              <a:rPr lang="en-US" b="1"/>
              <a:t>CCISO, CISSP, CISM, CISA, CEH,….</a:t>
            </a:r>
          </a:p>
          <a:p>
            <a:r>
              <a:rPr lang="en-US" b="1"/>
              <a:t>GitHub: </a:t>
            </a:r>
            <a:r>
              <a:rPr lang="en-US" b="1" err="1"/>
              <a:t>RoseTechCyber</a:t>
            </a:r>
            <a:endParaRPr lang="en-US" b="1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DB78210-B9B9-5E73-7FCE-743E7A65A288}"/>
              </a:ext>
            </a:extLst>
          </p:cNvPr>
          <p:cNvSpPr txBox="1"/>
          <p:nvPr/>
        </p:nvSpPr>
        <p:spPr>
          <a:xfrm>
            <a:off x="9690926" y="376450"/>
            <a:ext cx="1898984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0B0F0"/>
                </a:solidFill>
                <a:latin typeface="Aptos Narrow"/>
              </a:rPr>
              <a:t>  </a:t>
            </a:r>
            <a:r>
              <a:rPr lang="en-US" sz="2000" b="1">
                <a:solidFill>
                  <a:srgbClr val="00B0F0"/>
                </a:solidFill>
                <a:latin typeface="Aptos Narrow"/>
              </a:rPr>
              <a:t>Agents League   </a:t>
            </a:r>
          </a:p>
          <a:p>
            <a:r>
              <a:rPr lang="en-US" sz="2000" b="1">
                <a:solidFill>
                  <a:srgbClr val="00B0F0"/>
                </a:solidFill>
                <a:latin typeface="Aptos Narrow"/>
              </a:rPr>
              <a:t>       Hackathon</a:t>
            </a:r>
          </a:p>
          <a:p>
            <a:r>
              <a:rPr lang="en-US" sz="2000" b="1">
                <a:solidFill>
                  <a:srgbClr val="00B0F0"/>
                </a:solidFill>
                <a:latin typeface="Aptos Narrow"/>
              </a:rPr>
              <a:t>         </a:t>
            </a:r>
            <a:r>
              <a:rPr lang="en-US" sz="2000" b="1" err="1">
                <a:solidFill>
                  <a:srgbClr val="00B0F0"/>
                </a:solidFill>
                <a:latin typeface="Aptos Narrow"/>
              </a:rPr>
              <a:t>May,</a:t>
            </a:r>
            <a:r>
              <a:rPr lang="en-US" sz="2000" b="1">
                <a:solidFill>
                  <a:srgbClr val="00B0F0"/>
                </a:solidFill>
                <a:latin typeface="Aptos Narrow"/>
              </a:rPr>
              <a:t> 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90F8E-08FA-BD92-E32D-34A8CA0C9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067" y="-129398"/>
            <a:ext cx="3400249" cy="6512944"/>
          </a:xfrm>
          <a:prstGeom prst="rect">
            <a:avLst/>
          </a:prstGeom>
        </p:spPr>
      </p:pic>
      <p:pic>
        <p:nvPicPr>
          <p:cNvPr id="4" name="Picture 3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692FCBF6-0F58-EEA3-9075-B88D7D83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" b="317"/>
          <a:stretch>
            <a:fillRect/>
          </a:stretch>
        </p:blipFill>
        <p:spPr>
          <a:xfrm>
            <a:off x="8235443" y="-2514"/>
            <a:ext cx="4203752" cy="686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2E2A-B43A-9B2D-F516-D28F58E1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8" y="5691"/>
            <a:ext cx="6518695" cy="606696"/>
          </a:xfrm>
        </p:spPr>
        <p:txBody>
          <a:bodyPr>
            <a:normAutofit fontScale="90000"/>
          </a:bodyPr>
          <a:lstStyle/>
          <a:p>
            <a:r>
              <a:rPr lang="en-US"/>
              <a:t>                              </a:t>
            </a:r>
            <a:r>
              <a:rPr lang="en-US" b="1">
                <a:solidFill>
                  <a:schemeClr val="accent4"/>
                </a:solidFill>
              </a:rPr>
              <a:t>Our Goal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706E2-656F-1A14-B47C-8EC1045E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783" y="0"/>
            <a:ext cx="4737339" cy="6858000"/>
          </a:xfrm>
          <a:prstGeom prst="rect">
            <a:avLst/>
          </a:prstGeom>
        </p:spPr>
      </p:pic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E7632D9-8E76-A5FF-C6FC-AAED278A8939}"/>
              </a:ext>
            </a:extLst>
          </p:cNvPr>
          <p:cNvSpPr/>
          <p:nvPr/>
        </p:nvSpPr>
        <p:spPr>
          <a:xfrm>
            <a:off x="-624" y="630416"/>
            <a:ext cx="7246935" cy="141915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chemeClr val="bg1"/>
                </a:solidFill>
              </a:rPr>
              <a:t>To build an  Integrated AI Agentic Cyber Security Framework  with automated Agentic Security Research Center and Agentic  eLearning Security Management System.</a:t>
            </a:r>
          </a:p>
          <a:p>
            <a:pPr algn="ctr"/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7A49257-B961-135C-5577-7F0E4AEE8109}"/>
              </a:ext>
            </a:extLst>
          </p:cNvPr>
          <p:cNvSpPr/>
          <p:nvPr/>
        </p:nvSpPr>
        <p:spPr>
          <a:xfrm>
            <a:off x="-625" y="4914868"/>
            <a:ext cx="7376331" cy="1936743"/>
          </a:xfrm>
          <a:prstGeom prst="homePlat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baseline="0">
                <a:solidFill>
                  <a:schemeClr val="accent1"/>
                </a:solidFill>
                <a:latin typeface="Aptos"/>
                <a:ea typeface="Arial"/>
                <a:cs typeface="Arial"/>
              </a:rPr>
              <a:t>To leverage  on the chain of agentic workflow to build a sustainable </a:t>
            </a:r>
            <a:r>
              <a:rPr lang="en-US" sz="2000" b="1" baseline="0" err="1">
                <a:solidFill>
                  <a:schemeClr val="accent1"/>
                </a:solidFill>
                <a:latin typeface="Aptos"/>
                <a:ea typeface="Arial"/>
                <a:cs typeface="Arial"/>
              </a:rPr>
              <a:t>Elearning</a:t>
            </a:r>
            <a:r>
              <a:rPr lang="en-US" sz="2000" b="1" baseline="0">
                <a:solidFill>
                  <a:schemeClr val="accent1"/>
                </a:solidFill>
                <a:latin typeface="Aptos"/>
                <a:ea typeface="Arial"/>
                <a:cs typeface="Arial"/>
              </a:rPr>
              <a:t> Security Management App, </a:t>
            </a:r>
            <a:r>
              <a:rPr lang="en-US" sz="2000" b="1" baseline="0" err="1">
                <a:solidFill>
                  <a:schemeClr val="accent1"/>
                </a:solidFill>
                <a:latin typeface="Aptos"/>
                <a:ea typeface="Arial"/>
                <a:cs typeface="Arial"/>
              </a:rPr>
              <a:t>endisuring</a:t>
            </a:r>
            <a:r>
              <a:rPr lang="en-US" sz="2000" b="1" baseline="0">
                <a:solidFill>
                  <a:schemeClr val="accent1"/>
                </a:solidFill>
                <a:latin typeface="Aptos"/>
                <a:ea typeface="Arial"/>
                <a:cs typeface="Arial"/>
              </a:rPr>
              <a:t> that all controls and modules in the IACSF are  disseminated across Stakeholders and Entities through well packaged modular Security </a:t>
            </a:r>
            <a:r>
              <a:rPr lang="en-US" sz="2000" b="1" baseline="0" err="1">
                <a:solidFill>
                  <a:schemeClr val="accent1"/>
                </a:solidFill>
                <a:latin typeface="Aptos"/>
                <a:ea typeface="Arial"/>
                <a:cs typeface="Arial"/>
              </a:rPr>
              <a:t>Traings</a:t>
            </a:r>
            <a:r>
              <a:rPr lang="en-US" sz="2000" b="1" baseline="0">
                <a:solidFill>
                  <a:schemeClr val="accent1"/>
                </a:solidFill>
                <a:latin typeface="Aptos"/>
                <a:ea typeface="Arial"/>
                <a:cs typeface="Arial"/>
              </a:rPr>
              <a:t> and Certifications.</a:t>
            </a:r>
            <a:r>
              <a:rPr lang="en-US" sz="2000" b="1">
                <a:solidFill>
                  <a:schemeClr val="accent1"/>
                </a:solidFill>
                <a:latin typeface="Aptos"/>
                <a:ea typeface="Arial"/>
                <a:cs typeface="Arial"/>
              </a:rPr>
              <a:t>​</a:t>
            </a:r>
            <a:endParaRPr lang="en-US" sz="2000" b="1">
              <a:solidFill>
                <a:schemeClr val="accent1"/>
              </a:solidFill>
              <a:cs typeface="Arial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E1BB42B0-FBC0-9B65-8867-CB71F1C0F548}"/>
              </a:ext>
            </a:extLst>
          </p:cNvPr>
          <p:cNvSpPr/>
          <p:nvPr/>
        </p:nvSpPr>
        <p:spPr>
          <a:xfrm>
            <a:off x="-626" y="3275848"/>
            <a:ext cx="7376331" cy="163481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To ensure that the IACSF does not end as  just a holistic Security </a:t>
            </a:r>
            <a:r>
              <a:rPr lang="en-US" sz="2000" b="1" baseline="0" err="1">
                <a:solidFill>
                  <a:schemeClr val="bg1"/>
                </a:solidFill>
                <a:latin typeface="Aptos"/>
                <a:ea typeface="Arial"/>
                <a:cs typeface="Arial"/>
              </a:rPr>
              <a:t>document, but</a:t>
            </a:r>
            <a:r>
              <a:rPr lang="en-US" sz="20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 practically implemented in  lab demos and seamless Security Research Center with Realtime Agentic  Security Operations, and Monitoring in </a:t>
            </a:r>
            <a:r>
              <a:rPr lang="en-US" sz="2000" b="1" baseline="0" err="1">
                <a:solidFill>
                  <a:schemeClr val="bg1"/>
                </a:solidFill>
                <a:latin typeface="Aptos"/>
                <a:ea typeface="Arial"/>
                <a:cs typeface="Arial"/>
              </a:rPr>
              <a:t>realtime</a:t>
            </a:r>
            <a:r>
              <a:rPr lang="en-US" sz="20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 agentic threat protection.</a:t>
            </a:r>
            <a:r>
              <a:rPr lang="en-US" sz="2000" b="1">
                <a:solidFill>
                  <a:schemeClr val="bg1"/>
                </a:solidFill>
                <a:latin typeface="Aptos"/>
                <a:ea typeface="Arial"/>
                <a:cs typeface="Arial"/>
              </a:rPr>
              <a:t>​</a:t>
            </a:r>
            <a:endParaRPr lang="en-US" sz="20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2B33E43-02D0-706C-F6C1-76CF1EEE86FC}"/>
              </a:ext>
            </a:extLst>
          </p:cNvPr>
          <p:cNvSpPr/>
          <p:nvPr/>
        </p:nvSpPr>
        <p:spPr>
          <a:xfrm>
            <a:off x="-626" y="2053772"/>
            <a:ext cx="7246935" cy="1217876"/>
          </a:xfrm>
          <a:prstGeom prst="homePlat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baseline="0">
                <a:solidFill>
                  <a:schemeClr val="accent1"/>
                </a:solidFill>
                <a:latin typeface="Aptos"/>
                <a:ea typeface="Arial"/>
                <a:cs typeface="Arial"/>
              </a:rPr>
              <a:t>To Tailour out a more proactive Security Solution across the entire Tech Stack (Infrastructures, Platforms/OS, Applications and Data Layers).</a:t>
            </a:r>
            <a:r>
              <a:rPr lang="en-US" sz="2000" b="1">
                <a:solidFill>
                  <a:schemeClr val="accent1"/>
                </a:solidFill>
                <a:latin typeface="Aptos"/>
                <a:ea typeface="Arial"/>
                <a:cs typeface="Arial"/>
              </a:rPr>
              <a:t>​</a:t>
            </a:r>
            <a:endParaRPr lang="en-US" sz="20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81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706A-B6DA-C630-901E-3126FF12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" y="5691"/>
            <a:ext cx="12183372" cy="822357"/>
          </a:xfr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                              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b="1">
                <a:solidFill>
                  <a:schemeClr val="bg1"/>
                </a:solidFill>
              </a:rPr>
              <a:t>Project Overview/Workflow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4B71AA-16B5-DEF9-C1BA-5DE423EB2B02}"/>
              </a:ext>
            </a:extLst>
          </p:cNvPr>
          <p:cNvSpPr/>
          <p:nvPr/>
        </p:nvSpPr>
        <p:spPr>
          <a:xfrm>
            <a:off x="7770387" y="1284473"/>
            <a:ext cx="2997967" cy="8600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Infrastructures Security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B9090F6-5E34-8F79-912A-C2CABDAF5C65}"/>
              </a:ext>
            </a:extLst>
          </p:cNvPr>
          <p:cNvSpPr/>
          <p:nvPr/>
        </p:nvSpPr>
        <p:spPr>
          <a:xfrm>
            <a:off x="9126747" y="1988964"/>
            <a:ext cx="438222" cy="458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2B7C18-F443-6551-2CA7-0E491A11C038}"/>
              </a:ext>
            </a:extLst>
          </p:cNvPr>
          <p:cNvSpPr/>
          <p:nvPr/>
        </p:nvSpPr>
        <p:spPr>
          <a:xfrm>
            <a:off x="7770387" y="2449039"/>
            <a:ext cx="2997966" cy="888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OS Security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446FF5-211B-00F0-39AA-6BB35FDD4A03}"/>
              </a:ext>
            </a:extLst>
          </p:cNvPr>
          <p:cNvSpPr/>
          <p:nvPr/>
        </p:nvSpPr>
        <p:spPr>
          <a:xfrm>
            <a:off x="7827896" y="3886775"/>
            <a:ext cx="3012344" cy="831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Application Security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B25506-0E26-0903-AD3A-BCBC1A561FCC}"/>
              </a:ext>
            </a:extLst>
          </p:cNvPr>
          <p:cNvSpPr/>
          <p:nvPr/>
        </p:nvSpPr>
        <p:spPr>
          <a:xfrm>
            <a:off x="7957292" y="5123228"/>
            <a:ext cx="3012344" cy="888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Data </a:t>
            </a:r>
            <a:r>
              <a:rPr lang="en-US" err="1"/>
              <a:t>Securi</a:t>
            </a:r>
            <a:r>
              <a:rPr lang="en-US"/>
              <a:t>ty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6C6C505-4F75-ABB5-FFEA-60A67C712BA1}"/>
              </a:ext>
            </a:extLst>
          </p:cNvPr>
          <p:cNvSpPr/>
          <p:nvPr/>
        </p:nvSpPr>
        <p:spPr>
          <a:xfrm>
            <a:off x="9213011" y="3340435"/>
            <a:ext cx="265693" cy="5451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B5E3D05-BC68-E225-B5E8-8442626370B8}"/>
              </a:ext>
            </a:extLst>
          </p:cNvPr>
          <p:cNvSpPr/>
          <p:nvPr/>
        </p:nvSpPr>
        <p:spPr>
          <a:xfrm flipH="1">
            <a:off x="9263045" y="4562511"/>
            <a:ext cx="136872" cy="559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A46170AD-A41C-AB21-4B41-0A238EF10EDA}"/>
              </a:ext>
            </a:extLst>
          </p:cNvPr>
          <p:cNvSpPr/>
          <p:nvPr/>
        </p:nvSpPr>
        <p:spPr>
          <a:xfrm>
            <a:off x="6097440" y="1120283"/>
            <a:ext cx="1965497" cy="519867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AI Digital Forensic Tools</a:t>
            </a:r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1FD74767-A7DC-C9AA-E3FE-262EBCF16022}"/>
              </a:ext>
            </a:extLst>
          </p:cNvPr>
          <p:cNvSpPr/>
          <p:nvPr/>
        </p:nvSpPr>
        <p:spPr>
          <a:xfrm>
            <a:off x="10885099" y="976509"/>
            <a:ext cx="1476668" cy="519867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Other Security   Tools</a:t>
            </a:r>
          </a:p>
        </p:txBody>
      </p:sp>
      <p:sp>
        <p:nvSpPr>
          <p:cNvPr id="21" name="Callout: Down Arrow 20">
            <a:extLst>
              <a:ext uri="{FF2B5EF4-FFF2-40B4-BE49-F238E27FC236}">
                <a16:creationId xmlns:a16="http://schemas.microsoft.com/office/drawing/2014/main" id="{85BCD3AF-FA89-AD0F-E4E2-6826C89D1977}"/>
              </a:ext>
            </a:extLst>
          </p:cNvPr>
          <p:cNvSpPr/>
          <p:nvPr/>
        </p:nvSpPr>
        <p:spPr>
          <a:xfrm>
            <a:off x="7502" y="710428"/>
            <a:ext cx="6371042" cy="1425859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baseline="0">
                <a:solidFill>
                  <a:schemeClr val="bg1"/>
                </a:solidFill>
                <a:latin typeface="Aptos"/>
              </a:rPr>
              <a:t>Reasoning </a:t>
            </a:r>
            <a:r>
              <a:rPr lang="en-US" sz="2800" b="1">
                <a:solidFill>
                  <a:schemeClr val="bg1"/>
                </a:solidFill>
                <a:latin typeface="Aptos"/>
              </a:rPr>
              <a:t>Agent</a:t>
            </a:r>
            <a:endParaRPr lang="en-US" sz="2800" b="1" baseline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2" name="Callout: Down Arrow 21">
            <a:extLst>
              <a:ext uri="{FF2B5EF4-FFF2-40B4-BE49-F238E27FC236}">
                <a16:creationId xmlns:a16="http://schemas.microsoft.com/office/drawing/2014/main" id="{3A09D9E7-734F-0C8C-693C-B72E9DEB9C83}"/>
              </a:ext>
            </a:extLst>
          </p:cNvPr>
          <p:cNvSpPr/>
          <p:nvPr/>
        </p:nvSpPr>
        <p:spPr>
          <a:xfrm>
            <a:off x="7501" y="2220049"/>
            <a:ext cx="6371042" cy="1109557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Integrated Agentic </a:t>
            </a:r>
            <a:r>
              <a:rPr lang="en-US" sz="2400" b="1" err="1"/>
              <a:t>Cybersecuri</a:t>
            </a:r>
            <a:r>
              <a:rPr lang="en-US" sz="2400" b="1"/>
              <a:t>ty Framework-IACSF</a:t>
            </a:r>
          </a:p>
        </p:txBody>
      </p:sp>
      <p:sp>
        <p:nvSpPr>
          <p:cNvPr id="23" name="Callout: Down Arrow 22">
            <a:extLst>
              <a:ext uri="{FF2B5EF4-FFF2-40B4-BE49-F238E27FC236}">
                <a16:creationId xmlns:a16="http://schemas.microsoft.com/office/drawing/2014/main" id="{BF390AEF-03CA-C827-1086-DB9BE2356841}"/>
              </a:ext>
            </a:extLst>
          </p:cNvPr>
          <p:cNvSpPr/>
          <p:nvPr/>
        </p:nvSpPr>
        <p:spPr>
          <a:xfrm>
            <a:off x="7502" y="3355861"/>
            <a:ext cx="6227269" cy="951406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Agentic Cybersecurity Research Center</a:t>
            </a:r>
          </a:p>
        </p:txBody>
      </p:sp>
      <p:sp>
        <p:nvSpPr>
          <p:cNvPr id="24" name="Callout: Down Arrow 23">
            <a:extLst>
              <a:ext uri="{FF2B5EF4-FFF2-40B4-BE49-F238E27FC236}">
                <a16:creationId xmlns:a16="http://schemas.microsoft.com/office/drawing/2014/main" id="{D4ACC867-E4F4-C981-4177-1FC12D6ECC9A}"/>
              </a:ext>
            </a:extLst>
          </p:cNvPr>
          <p:cNvSpPr/>
          <p:nvPr/>
        </p:nvSpPr>
        <p:spPr>
          <a:xfrm>
            <a:off x="7501" y="4333521"/>
            <a:ext cx="6227269" cy="1368349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/>
              <a:t>Agentic eLearning </a:t>
            </a:r>
            <a:r>
              <a:rPr lang="en-US" sz="2400" b="1" err="1"/>
              <a:t>Secur</a:t>
            </a:r>
            <a:r>
              <a:rPr lang="en-US" sz="2400" b="1"/>
              <a:t>ity Management App</a:t>
            </a:r>
          </a:p>
        </p:txBody>
      </p:sp>
      <p:sp>
        <p:nvSpPr>
          <p:cNvPr id="25" name="Callout: Down Arrow 24">
            <a:extLst>
              <a:ext uri="{FF2B5EF4-FFF2-40B4-BE49-F238E27FC236}">
                <a16:creationId xmlns:a16="http://schemas.microsoft.com/office/drawing/2014/main" id="{E098DB3A-82C0-394E-4B96-8B6D81B8FB26}"/>
              </a:ext>
            </a:extLst>
          </p:cNvPr>
          <p:cNvSpPr/>
          <p:nvPr/>
        </p:nvSpPr>
        <p:spPr>
          <a:xfrm>
            <a:off x="7501" y="5699371"/>
            <a:ext cx="6371043" cy="115269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aseline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Backend Data Retrieval and Vector Search Embedding</a:t>
            </a:r>
            <a:r>
              <a:rPr lang="en-US" sz="240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.</a:t>
            </a:r>
            <a:r>
              <a:rPr lang="en-US" sz="2400" baseline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​​</a:t>
            </a:r>
            <a:r>
              <a:rPr lang="en-US" sz="2400">
                <a:latin typeface="Aptos"/>
                <a:ea typeface="Aptos"/>
                <a:cs typeface="Aptos"/>
              </a:rPr>
              <a:t>​</a:t>
            </a:r>
            <a:endParaRPr lang="en-US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AC7B0A0-1B49-C5A7-EBF4-5D8B69756682}"/>
              </a:ext>
            </a:extLst>
          </p:cNvPr>
          <p:cNvSpPr/>
          <p:nvPr/>
        </p:nvSpPr>
        <p:spPr>
          <a:xfrm>
            <a:off x="1293363" y="1314330"/>
            <a:ext cx="1185832" cy="4415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Wor</a:t>
            </a:r>
            <a:r>
              <a:rPr lang="en-US"/>
              <a:t>kIQ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CEE13B-032C-3A5C-8429-ED049CA34EE8}"/>
              </a:ext>
            </a:extLst>
          </p:cNvPr>
          <p:cNvSpPr/>
          <p:nvPr/>
        </p:nvSpPr>
        <p:spPr>
          <a:xfrm>
            <a:off x="2774231" y="1486858"/>
            <a:ext cx="1530888" cy="225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Foundry IQ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65A86AF-391A-4211-2901-4CC2EB9B1301}"/>
              </a:ext>
            </a:extLst>
          </p:cNvPr>
          <p:cNvSpPr/>
          <p:nvPr/>
        </p:nvSpPr>
        <p:spPr>
          <a:xfrm>
            <a:off x="4542646" y="1328707"/>
            <a:ext cx="1185832" cy="4415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Web IQ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29EFF0-BE32-7D74-10AB-3ACC5DAE0133}"/>
              </a:ext>
            </a:extLst>
          </p:cNvPr>
          <p:cNvSpPr/>
          <p:nvPr/>
        </p:nvSpPr>
        <p:spPr>
          <a:xfrm>
            <a:off x="3994809" y="1752839"/>
            <a:ext cx="2107718" cy="45432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Orchestrator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E62D83A-3E51-7EBE-1109-6624FA58272F}"/>
              </a:ext>
            </a:extLst>
          </p:cNvPr>
          <p:cNvSpPr/>
          <p:nvPr/>
        </p:nvSpPr>
        <p:spPr>
          <a:xfrm>
            <a:off x="3994808" y="2960536"/>
            <a:ext cx="2107718" cy="38243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Orchestrator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C707E0E-1AE2-AF35-76C1-228FAE3A57ED}"/>
              </a:ext>
            </a:extLst>
          </p:cNvPr>
          <p:cNvSpPr/>
          <p:nvPr/>
        </p:nvSpPr>
        <p:spPr>
          <a:xfrm>
            <a:off x="3994810" y="3938197"/>
            <a:ext cx="2107718" cy="38243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Orchestrator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5EFD52-EA9C-40F7-7EB9-27D90C1C06B6}"/>
              </a:ext>
            </a:extLst>
          </p:cNvPr>
          <p:cNvSpPr/>
          <p:nvPr/>
        </p:nvSpPr>
        <p:spPr>
          <a:xfrm>
            <a:off x="3994809" y="5131518"/>
            <a:ext cx="2107718" cy="55496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Orchestrator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8C96DC0-11DA-2B5A-A7F6-54753B5A0D68}"/>
              </a:ext>
            </a:extLst>
          </p:cNvPr>
          <p:cNvSpPr/>
          <p:nvPr/>
        </p:nvSpPr>
        <p:spPr>
          <a:xfrm>
            <a:off x="1435639" y="1767216"/>
            <a:ext cx="2107718" cy="45432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Copilot Office 365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2066BF-BFDE-41C1-2EFA-47CF6A3967B4}"/>
              </a:ext>
            </a:extLst>
          </p:cNvPr>
          <p:cNvSpPr/>
          <p:nvPr/>
        </p:nvSpPr>
        <p:spPr>
          <a:xfrm>
            <a:off x="1435638" y="2960535"/>
            <a:ext cx="2107718" cy="38243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/>
              <a:t>WorkI</a:t>
            </a:r>
            <a:r>
              <a:rPr lang="en-US"/>
              <a:t>Q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9CEE3E6-0F44-A509-6F92-432203EA2748}"/>
              </a:ext>
            </a:extLst>
          </p:cNvPr>
          <p:cNvSpPr/>
          <p:nvPr/>
        </p:nvSpPr>
        <p:spPr>
          <a:xfrm>
            <a:off x="1435639" y="3938196"/>
            <a:ext cx="2107718" cy="38243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Foundry IQ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2527E41-9438-3EA3-D34A-2390DA4CDC0E}"/>
              </a:ext>
            </a:extLst>
          </p:cNvPr>
          <p:cNvSpPr/>
          <p:nvPr/>
        </p:nvSpPr>
        <p:spPr>
          <a:xfrm>
            <a:off x="1435639" y="5131517"/>
            <a:ext cx="2107718" cy="58372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Web IQ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CCA53CE-0208-72DF-E6CE-885834011C49}"/>
              </a:ext>
            </a:extLst>
          </p:cNvPr>
          <p:cNvSpPr/>
          <p:nvPr/>
        </p:nvSpPr>
        <p:spPr>
          <a:xfrm>
            <a:off x="1421261" y="6468611"/>
            <a:ext cx="2107718" cy="38243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/>
              <a:t>CosmosD</a:t>
            </a:r>
            <a:r>
              <a:rPr lang="en-US"/>
              <a:t>b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12A874C-994A-197F-FA05-D7A9BC6349B3}"/>
              </a:ext>
            </a:extLst>
          </p:cNvPr>
          <p:cNvSpPr/>
          <p:nvPr/>
        </p:nvSpPr>
        <p:spPr>
          <a:xfrm>
            <a:off x="3994808" y="6382348"/>
            <a:ext cx="2107718" cy="55496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Orchestrator</a:t>
            </a:r>
          </a:p>
        </p:txBody>
      </p:sp>
    </p:spTree>
    <p:extLst>
      <p:ext uri="{BB962C8B-B14F-4D97-AF65-F5344CB8AC3E}">
        <p14:creationId xmlns:p14="http://schemas.microsoft.com/office/powerpoint/2010/main" val="98523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58B5-0259-B781-B10C-34704DD7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64" y="5691"/>
            <a:ext cx="12183372" cy="112428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     </a:t>
            </a:r>
            <a:r>
              <a:rPr lang="en-US" sz="3200">
                <a:ea typeface="+mj-lt"/>
                <a:cs typeface="+mj-lt"/>
              </a:rPr>
              <a:t> </a:t>
            </a:r>
            <a:r>
              <a:rPr lang="en-US" sz="3200" b="1">
                <a:solidFill>
                  <a:schemeClr val="bg1"/>
                </a:solidFill>
                <a:ea typeface="+mj-lt"/>
                <a:cs typeface="+mj-lt"/>
              </a:rPr>
              <a:t>Integrated Cybersecurity Agentic Framework-IACSF</a:t>
            </a:r>
            <a:br>
              <a:rPr lang="en-US" sz="3200" b="1">
                <a:ea typeface="+mj-lt"/>
                <a:cs typeface="+mj-lt"/>
              </a:rPr>
            </a:br>
            <a:r>
              <a:rPr lang="en-US" sz="3200" b="1">
                <a:solidFill>
                  <a:schemeClr val="bg1"/>
                </a:solidFill>
                <a:ea typeface="+mj-lt"/>
                <a:cs typeface="+mj-lt"/>
              </a:rPr>
              <a:t>                                             </a:t>
            </a:r>
            <a:r>
              <a:rPr lang="en-US" sz="3200" b="1" i="1">
                <a:solidFill>
                  <a:schemeClr val="bg1"/>
                </a:solidFill>
                <a:ea typeface="+mj-lt"/>
                <a:cs typeface="+mj-lt"/>
              </a:rPr>
              <a:t>(Main Orchestrator)</a:t>
            </a:r>
            <a:endParaRPr lang="en-US" sz="3200" b="1" i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416FF-46A7-52ED-1121-E27F021503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en-US">
              <a:ea typeface="+mn-lt"/>
              <a:cs typeface="+mn-lt"/>
            </a:endParaRP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17256-CE3C-2553-2934-1FE553E05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32" y="1135513"/>
            <a:ext cx="7007523" cy="571718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>
                <a:solidFill>
                  <a:schemeClr val="accent1"/>
                </a:solidFill>
              </a:rPr>
              <a:t>Documented IACSF as the Main Orchestrator and Pointer.</a:t>
            </a:r>
          </a:p>
          <a:p>
            <a:r>
              <a:rPr lang="en-US" b="1">
                <a:solidFill>
                  <a:schemeClr val="accent1"/>
                </a:solidFill>
              </a:rPr>
              <a:t>Customized Template with Entity Mapping  across Infrastructures, Platforms, Applications and Data Layers.</a:t>
            </a:r>
          </a:p>
          <a:p>
            <a:r>
              <a:rPr lang="en-US" b="1">
                <a:solidFill>
                  <a:schemeClr val="accent1"/>
                </a:solidFill>
              </a:rPr>
              <a:t>Open for Contributions to ensure no control is missing.</a:t>
            </a:r>
          </a:p>
          <a:p>
            <a:r>
              <a:rPr lang="en-US" b="1">
                <a:solidFill>
                  <a:schemeClr val="accent1"/>
                </a:solidFill>
              </a:rPr>
              <a:t>Most Standard Security Frameworks must align with </a:t>
            </a:r>
            <a:r>
              <a:rPr lang="en-US" b="1" err="1">
                <a:solidFill>
                  <a:schemeClr val="accent1"/>
                </a:solidFill>
              </a:rPr>
              <a:t>dpace</a:t>
            </a:r>
            <a:r>
              <a:rPr lang="en-US" b="1">
                <a:solidFill>
                  <a:schemeClr val="accent1"/>
                </a:solidFill>
              </a:rPr>
              <a:t> to accommodate subsequent </a:t>
            </a:r>
            <a:r>
              <a:rPr lang="en-US" b="1" err="1">
                <a:solidFill>
                  <a:schemeClr val="accent1"/>
                </a:solidFill>
              </a:rPr>
              <a:t>Framewor</a:t>
            </a:r>
            <a:r>
              <a:rPr lang="en-US" b="1">
                <a:solidFill>
                  <a:schemeClr val="accent1"/>
                </a:solidFill>
              </a:rPr>
              <a:t>ks: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ISO 27001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Center for Internet Security(CIS)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HIPAA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solidFill>
                  <a:schemeClr val="accent1"/>
                </a:solidFill>
              </a:rPr>
              <a:t>Microsof</a:t>
            </a:r>
            <a:r>
              <a:rPr lang="en-US" b="1">
                <a:solidFill>
                  <a:schemeClr val="accent1"/>
                </a:solidFill>
              </a:rPr>
              <a:t>t Cybersecurity Benchmark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Zero Trust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ISO 42001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RMF 100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1"/>
                </a:solidFill>
              </a:rPr>
              <a:t>Others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b="1">
              <a:solidFill>
                <a:schemeClr val="accent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b="1">
              <a:solidFill>
                <a:schemeClr val="accent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D3EB53-62F5-854E-C4EB-F65D84EAC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537" y="345055"/>
            <a:ext cx="4665456" cy="4341964"/>
          </a:xfrm>
          <a:prstGeom prst="rect">
            <a:avLst/>
          </a:prstGeom>
        </p:spPr>
      </p:pic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008A5DE1-DB72-63E7-0A7A-7653DB4E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28" y="3997804"/>
            <a:ext cx="51054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3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6531-F533-5A71-AE15-6C7D1C27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" y="5691"/>
            <a:ext cx="12010844" cy="908620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 Agentic Security  Research Center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CE367-1AD4-97B9-7B9A-E1EAAEBCA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974" y="1164269"/>
            <a:ext cx="5656051" cy="55590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  <a:ea typeface="+mn-lt"/>
                <a:cs typeface="+mn-lt"/>
              </a:rPr>
              <a:t>Real‑time Detection, Alerting and Orchestration. </a:t>
            </a:r>
          </a:p>
          <a:p>
            <a:r>
              <a:rPr lang="en-US" b="1">
                <a:solidFill>
                  <a:schemeClr val="accent1"/>
                </a:solidFill>
                <a:ea typeface="+mn-lt"/>
                <a:cs typeface="+mn-lt"/>
              </a:rPr>
              <a:t>Interactive labs: forensic investigations, DLP simulations, workflow orchestration.</a:t>
            </a: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</a:rPr>
              <a:t>Forensic traceability with Autopsy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</a:rPr>
              <a:t>Web dashboard for monitoring threats.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  <a:latin typeface="Aptos" panose="020B0004020202020204"/>
                <a:cs typeface="Arial"/>
              </a:rPr>
              <a:t>Threat Protection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  <a:latin typeface="Aptos" panose="020B0004020202020204"/>
                <a:cs typeface="Arial"/>
              </a:rPr>
              <a:t>Vulnerability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  <a:latin typeface="Aptos" panose="020B0004020202020204"/>
                <a:cs typeface="Arial"/>
              </a:rPr>
              <a:t>Security plug-ins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b="1">
              <a:solidFill>
                <a:schemeClr val="accent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b="1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C4D535-CA21-1AF1-33E6-3F553742E30C}"/>
              </a:ext>
            </a:extLst>
          </p:cNvPr>
          <p:cNvSpPr/>
          <p:nvPr/>
        </p:nvSpPr>
        <p:spPr>
          <a:xfrm>
            <a:off x="6663905" y="925843"/>
            <a:ext cx="4755909" cy="1334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Infrastructures Security Tools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6B4076-7864-6E92-E702-FAFF94A1408C}"/>
              </a:ext>
            </a:extLst>
          </p:cNvPr>
          <p:cNvSpPr/>
          <p:nvPr/>
        </p:nvSpPr>
        <p:spPr>
          <a:xfrm>
            <a:off x="6663904" y="2262936"/>
            <a:ext cx="4755909" cy="140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Platform/OS  Security Tools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E9EF44-C20C-7472-058A-37EE7B3D3DD7}"/>
              </a:ext>
            </a:extLst>
          </p:cNvPr>
          <p:cNvSpPr/>
          <p:nvPr/>
        </p:nvSpPr>
        <p:spPr>
          <a:xfrm>
            <a:off x="6663905" y="3671917"/>
            <a:ext cx="4755909" cy="140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Application Security Tools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23AB68-F601-023C-69DF-FCFB9920C486}"/>
              </a:ext>
            </a:extLst>
          </p:cNvPr>
          <p:cNvSpPr/>
          <p:nvPr/>
        </p:nvSpPr>
        <p:spPr>
          <a:xfrm>
            <a:off x="6793300" y="5109653"/>
            <a:ext cx="4755909" cy="140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Data Sec</a:t>
            </a:r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09CB083E-7265-A312-C6C2-5FFAED92E977}"/>
              </a:ext>
            </a:extLst>
          </p:cNvPr>
          <p:cNvSpPr/>
          <p:nvPr/>
        </p:nvSpPr>
        <p:spPr>
          <a:xfrm>
            <a:off x="5662284" y="928238"/>
            <a:ext cx="1527293" cy="592976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Ecurity Tool</a:t>
            </a:r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F6E3C24C-48C4-27AA-B7E5-5E3C5A765934}"/>
              </a:ext>
            </a:extLst>
          </p:cNvPr>
          <p:cNvSpPr/>
          <p:nvPr/>
        </p:nvSpPr>
        <p:spPr>
          <a:xfrm rot="21480000">
            <a:off x="11146831" y="755591"/>
            <a:ext cx="1527293" cy="574285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Reasoning agents</a:t>
            </a:r>
          </a:p>
        </p:txBody>
      </p:sp>
    </p:spTree>
    <p:extLst>
      <p:ext uri="{BB962C8B-B14F-4D97-AF65-F5344CB8AC3E}">
        <p14:creationId xmlns:p14="http://schemas.microsoft.com/office/powerpoint/2010/main" val="243710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2B1B-3453-F001-2DB3-2A041657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705" y="5691"/>
            <a:ext cx="12097108" cy="822356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       </a:t>
            </a:r>
            <a:r>
              <a:rPr lang="en-US" b="1">
                <a:solidFill>
                  <a:schemeClr val="bg1"/>
                </a:solidFill>
              </a:rPr>
              <a:t>Agentic eLearning Security Management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5E314-A438-575A-0DE3-F772939EA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5" y="847966"/>
            <a:ext cx="6475559" cy="5530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Reasoning Agentic Workflow for adaptive learning</a:t>
            </a:r>
          </a:p>
          <a:p>
            <a:r>
              <a:rPr lang="en-US">
                <a:solidFill>
                  <a:schemeClr val="accent1"/>
                </a:solidFill>
              </a:rPr>
              <a:t>LMS dashboards for learner progress &amp; research simulations.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>
                <a:solidFill>
                  <a:schemeClr val="accent1"/>
                </a:solidFill>
              </a:rPr>
              <a:t>Certification pathways across the Controls and  the Security modules in each layer of Technology.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>
                <a:solidFill>
                  <a:schemeClr val="accent1"/>
                </a:solidFill>
              </a:rPr>
              <a:t>Realtime Agentic workflow through  enrollment, on-boarding, learning, Self-Assessment to learning completion and certification.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8B535-593B-7E27-FD13-F3C74641A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83" y="848264"/>
            <a:ext cx="5499339" cy="575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workflow&#10;&#10;AI-generated content may be incorrect.">
            <a:extLst>
              <a:ext uri="{FF2B5EF4-FFF2-40B4-BE49-F238E27FC236}">
                <a16:creationId xmlns:a16="http://schemas.microsoft.com/office/drawing/2014/main" id="{E2E2F473-195C-14B1-D3EF-7BFECADBB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83" y="0"/>
            <a:ext cx="12184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9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1A19-6128-662D-D139-B1803CD3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42" y="5693"/>
            <a:ext cx="11478882" cy="83673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b="1">
                <a:solidFill>
                  <a:srgbClr val="FFFFFF"/>
                </a:solidFill>
              </a:rPr>
            </a:br>
            <a:br>
              <a:rPr lang="en-US" b="1">
                <a:solidFill>
                  <a:srgbClr val="FFFFFF"/>
                </a:solidFill>
              </a:rPr>
            </a:br>
            <a:r>
              <a:rPr lang="en-US" b="1">
                <a:solidFill>
                  <a:srgbClr val="FFFFFF"/>
                </a:solidFill>
              </a:rPr>
              <a:t>Impact &amp; Next Steps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7A621C2-30ED-D4D4-02B5-4DDB51F9C49A}"/>
              </a:ext>
            </a:extLst>
          </p:cNvPr>
          <p:cNvSpPr/>
          <p:nvPr/>
        </p:nvSpPr>
        <p:spPr>
          <a:xfrm>
            <a:off x="342122" y="846504"/>
            <a:ext cx="7620586" cy="185702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aseline="0">
                <a:latin typeface="Aptos"/>
                <a:ea typeface="Arial"/>
                <a:cs typeface="Arial"/>
              </a:rPr>
              <a:t>Strengthens proactive cybercrime defense and full   alignment with the Standard Cybersecurity Frameworks such as ISO 27001, CIS, NIST-Cybersecurity, ISO 42001, RMF-100, CSA, CISA and others.</a:t>
            </a:r>
            <a:r>
              <a:rPr lang="en-US" sz="2600">
                <a:latin typeface="Aptos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FCF0BE2-8CFC-0B21-8D2B-B72C2676A5B4}"/>
              </a:ext>
            </a:extLst>
          </p:cNvPr>
          <p:cNvSpPr/>
          <p:nvPr/>
        </p:nvSpPr>
        <p:spPr>
          <a:xfrm>
            <a:off x="342122" y="2701183"/>
            <a:ext cx="7620586" cy="19145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600">
                <a:cs typeface="Arial"/>
              </a:rPr>
              <a:t>Realtime automated Security Research and Monitoring Center with Threats Protection and triggers on anomalies.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3B05824-9F00-5E50-AB2C-387552F125B2}"/>
              </a:ext>
            </a:extLst>
          </p:cNvPr>
          <p:cNvSpPr/>
          <p:nvPr/>
        </p:nvSpPr>
        <p:spPr>
          <a:xfrm>
            <a:off x="342122" y="4742768"/>
            <a:ext cx="7620586" cy="182827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aseline="0">
                <a:latin typeface="Aptos"/>
                <a:ea typeface="Arial"/>
                <a:cs typeface="Arial"/>
              </a:rPr>
              <a:t>Provides structured </a:t>
            </a:r>
            <a:r>
              <a:rPr lang="en-US" sz="2800">
                <a:latin typeface="Aptos"/>
                <a:ea typeface="Arial"/>
                <a:cs typeface="Arial"/>
              </a:rPr>
              <a:t>Agentic eLearning Security Management with certifications</a:t>
            </a:r>
            <a:r>
              <a:rPr lang="en-US" sz="2800" baseline="0">
                <a:latin typeface="Aptos"/>
                <a:ea typeface="Arial"/>
                <a:cs typeface="Arial"/>
              </a:rPr>
              <a:t> &amp; hands‑on labs</a:t>
            </a:r>
            <a:r>
              <a:rPr lang="en-US" sz="2800">
                <a:latin typeface="Aptos"/>
                <a:ea typeface="Arial"/>
                <a:cs typeface="Arial"/>
              </a:rPr>
              <a:t>.​</a:t>
            </a:r>
            <a:endParaRPr lang="en-US" sz="2600"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A0EF68-FB71-2E24-1E1E-BDCBAEBAB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273" y="704488"/>
            <a:ext cx="3874700" cy="5865963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525E4D2-E892-0B61-339E-6E4D5BF5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0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686701-3C41-3372-37D6-1D8F410F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33"/>
            <a:ext cx="10515600" cy="994884"/>
          </a:xfrm>
          <a:solidFill>
            <a:schemeClr val="accent1"/>
          </a:solidFill>
        </p:spPr>
        <p:txBody>
          <a:bodyPr/>
          <a:lstStyle/>
          <a:p>
            <a:pPr marL="228600" indent="-228600" algn="ctr">
              <a:spcBef>
                <a:spcPts val="1000"/>
              </a:spcBef>
            </a:pPr>
            <a:br>
              <a:rPr lang="en-US" sz="3200" b="1">
                <a:latin typeface="Aptos"/>
              </a:rPr>
            </a:br>
            <a:r>
              <a:rPr lang="en-US" sz="3200" b="1">
                <a:solidFill>
                  <a:schemeClr val="bg1"/>
                </a:solidFill>
                <a:latin typeface="Aptos"/>
              </a:rPr>
              <a:t>Roadmap</a:t>
            </a:r>
            <a:endParaRPr lang="en-US" sz="3200" b="1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ACAE3A-2065-2706-953F-8241E64A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776"/>
            <a:ext cx="10515600" cy="4955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10‑Day Build Plan</a:t>
            </a:r>
            <a:r>
              <a:rPr lang="en-US" sz="3200">
                <a:solidFill>
                  <a:schemeClr val="accent1"/>
                </a:solidFill>
              </a:rPr>
              <a:t> (3-in-1 Integrated Agentic Cybersecurity Framework , Security Research Center and + LSMS)-IACSF</a:t>
            </a:r>
          </a:p>
          <a:p>
            <a:r>
              <a:rPr lang="en-US" sz="3200" b="1">
                <a:solidFill>
                  <a:schemeClr val="accent1"/>
                </a:solidFill>
              </a:rPr>
              <a:t>GitHub Copilot Implementation</a:t>
            </a:r>
            <a:r>
              <a:rPr lang="en-US" sz="3200">
                <a:solidFill>
                  <a:schemeClr val="accent1"/>
                </a:solidFill>
              </a:rPr>
              <a:t> for modular coding &amp; orchestration.</a:t>
            </a:r>
          </a:p>
          <a:p>
            <a:r>
              <a:rPr lang="en-US" sz="3200" b="1">
                <a:solidFill>
                  <a:schemeClr val="accent1"/>
                </a:solidFill>
              </a:rPr>
              <a:t>Reasoning Agent</a:t>
            </a:r>
            <a:r>
              <a:rPr lang="en-US" sz="3200">
                <a:solidFill>
                  <a:schemeClr val="accent1"/>
                </a:solidFill>
              </a:rPr>
              <a:t> with Work IQ, Foundry IQ, Fabric IQ, Web IQ.</a:t>
            </a:r>
          </a:p>
          <a:p>
            <a:r>
              <a:rPr lang="en-US" sz="3200">
                <a:solidFill>
                  <a:schemeClr val="accent1"/>
                </a:solidFill>
              </a:rPr>
              <a:t>Expand certifications &amp; labs as standards evolve.</a:t>
            </a:r>
          </a:p>
          <a:p>
            <a:r>
              <a:rPr lang="en-US" sz="3200">
                <a:solidFill>
                  <a:schemeClr val="accent1"/>
                </a:solidFill>
              </a:rPr>
              <a:t>Locally hosted on Aspire.</a:t>
            </a:r>
          </a:p>
          <a:p>
            <a:endParaRPr lang="en-US" sz="3200">
              <a:solidFill>
                <a:schemeClr val="accent1"/>
              </a:solidFill>
            </a:endParaRPr>
          </a:p>
          <a:p>
            <a:endParaRPr lang="en-US" sz="3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467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EB0A-41F1-FCA4-F483-547112E2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34" y="5691"/>
            <a:ext cx="105156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EF85BFF-5B26-9F46-D216-E3FC0FA14731}"/>
              </a:ext>
            </a:extLst>
          </p:cNvPr>
          <p:cNvSpPr/>
          <p:nvPr/>
        </p:nvSpPr>
        <p:spPr>
          <a:xfrm>
            <a:off x="497632" y="1601755"/>
            <a:ext cx="11476653" cy="4883020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RRoseTechCyber/Integrated-Agentic-Cybersecurity-Framework-IACSF: All-in-One Holistic AI Agentic Cybersecurity Framework tailored for a more proactive protection across the Information Technology(IT) Layers covering Infrastructures, Platforms, Applications and Data. Practical Hands-On Security Tools that must align with the Standard Cybersecurity Frameworks such as Digital Forensics tools and others.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rgbClr val="467886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ntegrated-Agentic-Cybersecurity-Framework-IACSF/docs at main · RoseTechCyber/Integrated-Agentic-Cybersecurity-Framework-IACSF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ntegrated-Agentic-Cybersecurity-Framework-IACSF/README.md at main · RoseTechCyber/Integrated-Agentic-Cybersecurity-Framework-IACSF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290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115E-8AAA-A333-D10A-35944FDB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9" y="178220"/>
            <a:ext cx="11162581" cy="152684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Thank You!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Please connect: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BBBE-15B0-5469-0AF9-7038AD8E2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b="1" err="1"/>
              <a:t>Chinatu</a:t>
            </a:r>
            <a:r>
              <a:rPr lang="en-US" b="1"/>
              <a:t> </a:t>
            </a:r>
            <a:r>
              <a:rPr lang="en-US" b="1" err="1"/>
              <a:t>Uzuegb</a:t>
            </a:r>
            <a:r>
              <a:rPr lang="en-US" b="1"/>
              <a:t>u</a:t>
            </a:r>
            <a:endParaRPr lang="en-US"/>
          </a:p>
          <a:p>
            <a:pPr marL="0" indent="0" algn="ctr">
              <a:buNone/>
            </a:pPr>
            <a:r>
              <a:rPr lang="en-US" b="1" err="1"/>
              <a:t>Linkedin</a:t>
            </a:r>
            <a:r>
              <a:rPr lang="en-US" b="1"/>
              <a:t>: </a:t>
            </a:r>
            <a:r>
              <a:rPr lang="en-US">
                <a:ea typeface="+mn-lt"/>
                <a:cs typeface="+mn-lt"/>
                <a:hlinkClick r:id="rId2"/>
              </a:rPr>
              <a:t>https://www.linkedin.com/in/chinatu-uzuegbu-67593119/</a:t>
            </a:r>
            <a:endParaRPr lang="en-US" b="1"/>
          </a:p>
          <a:p>
            <a:pPr marL="0" indent="0" algn="ctr">
              <a:buNone/>
            </a:pPr>
            <a:r>
              <a:rPr lang="en-US" b="1"/>
              <a:t>GitHub:  </a:t>
            </a:r>
            <a:r>
              <a:rPr lang="en-US" b="1" err="1"/>
              <a:t>RoseTechCyber</a:t>
            </a:r>
            <a:endParaRPr lang="en-US" b="1"/>
          </a:p>
          <a:p>
            <a:pPr marL="0" indent="0" algn="ctr">
              <a:buNone/>
            </a:pPr>
            <a:r>
              <a:rPr lang="en-US" b="1"/>
              <a:t>Repo Name: </a:t>
            </a:r>
            <a:r>
              <a:rPr lang="en-US"/>
              <a:t>Integrated-Agentic-Cybersecurity-Framework-IACSF.</a:t>
            </a:r>
          </a:p>
          <a:p>
            <a:pPr marL="0" indent="0" algn="ctr">
              <a:buNone/>
            </a:pPr>
            <a:r>
              <a:rPr lang="en-US" b="1"/>
              <a:t>Email:</a:t>
            </a:r>
            <a:r>
              <a:rPr lang="en-US"/>
              <a:t> </a:t>
            </a:r>
            <a:r>
              <a:rPr lang="en-US">
                <a:hlinkClick r:id="rId3"/>
              </a:rPr>
              <a:t>chinatu7000@gmail.com</a:t>
            </a:r>
            <a:endParaRPr lang="en-US"/>
          </a:p>
          <a:p>
            <a:pPr marL="0" indent="0" algn="ctr">
              <a:buNone/>
            </a:pPr>
            <a:r>
              <a:rPr lang="en-US" b="1"/>
              <a:t>Project Team:</a:t>
            </a:r>
          </a:p>
          <a:p>
            <a:pPr marL="0" indent="0" algn="ctr">
              <a:buNone/>
            </a:pPr>
            <a:r>
              <a:rPr lang="en-US"/>
              <a:t>Copilot Chat</a:t>
            </a:r>
          </a:p>
          <a:p>
            <a:pPr marL="0" indent="0" algn="ctr">
              <a:buNone/>
            </a:pPr>
            <a:r>
              <a:rPr lang="en-US" err="1"/>
              <a:t>Github</a:t>
            </a:r>
            <a:r>
              <a:rPr lang="en-US"/>
              <a:t> </a:t>
            </a:r>
            <a:r>
              <a:rPr lang="en-US" err="1"/>
              <a:t>copilo</a:t>
            </a:r>
            <a:r>
              <a:rPr lang="en-US"/>
              <a:t>t</a:t>
            </a:r>
          </a:p>
          <a:p>
            <a:pPr marL="0" indent="0" algn="ctr">
              <a:buNone/>
            </a:pPr>
            <a:r>
              <a:rPr lang="en-US"/>
              <a:t>Others would be updated.</a:t>
            </a:r>
          </a:p>
        </p:txBody>
      </p:sp>
    </p:spTree>
    <p:extLst>
      <p:ext uri="{BB962C8B-B14F-4D97-AF65-F5344CB8AC3E}">
        <p14:creationId xmlns:p14="http://schemas.microsoft.com/office/powerpoint/2010/main" val="308750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    Integrated Agentic Cybersecurity Framework ,   Agentic Security Research Center  &amp; Agentic eLearning  Security Mgt. App</vt:lpstr>
      <vt:lpstr>                              Our Goal</vt:lpstr>
      <vt:lpstr>                               Project Overview/Workflow</vt:lpstr>
      <vt:lpstr>      Integrated Cybersecurity Agentic Framework-IACSF                                              (Main Orchestrator)</vt:lpstr>
      <vt:lpstr> Agentic Security  Research Center</vt:lpstr>
      <vt:lpstr>       Agentic eLearning Security Management </vt:lpstr>
      <vt:lpstr>PowerPoint Presentation</vt:lpstr>
      <vt:lpstr>  Impact &amp; Next Steps  </vt:lpstr>
      <vt:lpstr> Roadmap </vt:lpstr>
      <vt:lpstr>References</vt:lpstr>
      <vt:lpstr>Thank You! Please connect: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2026-06-02T14:37:53Z</dcterms:created>
  <dcterms:modified xsi:type="dcterms:W3CDTF">2026-06-13T00:43:58Z</dcterms:modified>
</cp:coreProperties>
</file>